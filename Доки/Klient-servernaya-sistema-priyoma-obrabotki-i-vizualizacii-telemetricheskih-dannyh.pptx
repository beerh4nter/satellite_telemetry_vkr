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89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3267"/>
            <a:ext cx="8228290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Проектирование программного обеспечения для </a:t>
            </a:r>
            <a:r>
              <a:rPr lang="ru-RU" sz="4450" dirty="0" err="1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обра</a:t>
            </a:r>
            <a:r>
              <a:rPr lang="ru-RU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-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ru-RU" sz="4450" dirty="0" err="1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ботки</a:t>
            </a:r>
            <a:r>
              <a:rPr lang="ru-RU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и визуализации телеметрии летательных аппаратов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2573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Курсовой проект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8753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Выполнил: Боков </a:t>
            </a:r>
            <a:r>
              <a:rPr lang="en-US" sz="1750" dirty="0" err="1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Артём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ИУК4-</a:t>
            </a:r>
            <a:r>
              <a:rPr lang="ru-RU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2Б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4934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202</a:t>
            </a:r>
            <a:r>
              <a:rPr lang="ru-RU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6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год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04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5098" y="3421142"/>
            <a:ext cx="6400919" cy="700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Актуальность проекта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85098" y="4682847"/>
            <a:ext cx="4309943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Рост телеметрических систем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85098" y="5257562"/>
            <a:ext cx="6256496" cy="2153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Современные инженерные и экспериментальные установки генерируют непрерывные потоки данных, требующие обработки в реальном времени. Космические аппараты, беспилотные системы и промышленное оборудование передают критически важные параметры для мониторинга и управления.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6426" y="4682847"/>
            <a:ext cx="3653790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Технологические вызовы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6426" y="5257562"/>
            <a:ext cx="6256496" cy="2153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Надёжная передача телеметрии по сети, её структурирование и визуализация остаются актуальными задачами. Необходимы эффективные архитектурные решения для обработки больших объёмов данных с минимальными задержками и гарантией целостности.</a:t>
            </a:r>
            <a:endParaRPr lang="en-US" sz="17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BCCF81-D104-4C8E-BDB6-9E97F0B216BA}"/>
              </a:ext>
            </a:extLst>
          </p:cNvPr>
          <p:cNvSpPr/>
          <p:nvPr/>
        </p:nvSpPr>
        <p:spPr>
          <a:xfrm>
            <a:off x="12669520" y="7569200"/>
            <a:ext cx="1849120" cy="57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256" y="561142"/>
            <a:ext cx="5950506" cy="637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Цель и задачи проекта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4256" y="1606987"/>
            <a:ext cx="13201888" cy="1548051"/>
          </a:xfrm>
          <a:prstGeom prst="roundRect">
            <a:avLst>
              <a:gd name="adj" fmla="val 7088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91396" y="1606987"/>
            <a:ext cx="91440" cy="1548051"/>
          </a:xfrm>
          <a:prstGeom prst="roundRect">
            <a:avLst>
              <a:gd name="adj" fmla="val 93737"/>
            </a:avLst>
          </a:prstGeom>
          <a:solidFill>
            <a:srgbClr val="E6DED2"/>
          </a:solidFill>
          <a:ln/>
        </p:spPr>
      </p:sp>
      <p:sp>
        <p:nvSpPr>
          <p:cNvPr id="5" name="Text 3"/>
          <p:cNvSpPr/>
          <p:nvPr/>
        </p:nvSpPr>
        <p:spPr>
          <a:xfrm>
            <a:off x="1009769" y="1833920"/>
            <a:ext cx="255091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Цель проекта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9769" y="2275165"/>
            <a:ext cx="1267944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Разработка функциональной клиент-серверной системы для приёма, обработки и визуализации телеметрических данных в режиме реального времени с применением современных сетевых протоколов и языков программирования.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4256" y="3384590"/>
            <a:ext cx="20407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4256" y="3708440"/>
            <a:ext cx="4264581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9" name="Text 7"/>
          <p:cNvSpPr/>
          <p:nvPr/>
        </p:nvSpPr>
        <p:spPr>
          <a:xfrm>
            <a:off x="714256" y="3856196"/>
            <a:ext cx="4264581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Приём телеметрических данных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4256" y="4616291"/>
            <a:ext cx="4264581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Организация сетевого взаимодействия для получения бинарных кадров телеметрии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82910" y="3384590"/>
            <a:ext cx="20407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82910" y="3708440"/>
            <a:ext cx="4264581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3" name="Text 11"/>
          <p:cNvSpPr/>
          <p:nvPr/>
        </p:nvSpPr>
        <p:spPr>
          <a:xfrm>
            <a:off x="5182910" y="3856196"/>
            <a:ext cx="412718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Обработка и структурирование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82910" y="4297442"/>
            <a:ext cx="4264581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Парсинг входящих данных и преобразование в типизированные структуры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1563" y="3384590"/>
            <a:ext cx="20407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1563" y="3708440"/>
            <a:ext cx="4264581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7" name="Text 15"/>
          <p:cNvSpPr/>
          <p:nvPr/>
        </p:nvSpPr>
        <p:spPr>
          <a:xfrm>
            <a:off x="9651563" y="3856196"/>
            <a:ext cx="4264581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Хранение в оперативной памяти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51563" y="4616291"/>
            <a:ext cx="4264581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Потокобезопасное управление данными для быстрого доступа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4256" y="5952768"/>
            <a:ext cx="20407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4256" y="6276618"/>
            <a:ext cx="6498907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1" name="Text 19"/>
          <p:cNvSpPr/>
          <p:nvPr/>
        </p:nvSpPr>
        <p:spPr>
          <a:xfrm>
            <a:off x="714256" y="6424374"/>
            <a:ext cx="347864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Передача данных клиенту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4256" y="6865620"/>
            <a:ext cx="6498907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Организация канала связи для трансляции обработанных параметров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17237" y="5952768"/>
            <a:ext cx="20407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17237" y="6276618"/>
            <a:ext cx="6498907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5" name="Text 23"/>
          <p:cNvSpPr/>
          <p:nvPr/>
        </p:nvSpPr>
        <p:spPr>
          <a:xfrm>
            <a:off x="7417237" y="6424374"/>
            <a:ext cx="348579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Визуализация параметров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17237" y="6865620"/>
            <a:ext cx="6498907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Отображение данных с возможностью анализа динамики изменений</a:t>
            </a:r>
            <a:endParaRPr lang="en-US" sz="16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293C340-71D3-441F-AE03-40DF78C61237}"/>
              </a:ext>
            </a:extLst>
          </p:cNvPr>
          <p:cNvSpPr/>
          <p:nvPr/>
        </p:nvSpPr>
        <p:spPr>
          <a:xfrm>
            <a:off x="12669520" y="7569200"/>
            <a:ext cx="1849120" cy="57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0056" y="812483"/>
            <a:ext cx="5448419" cy="601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Архитектура системы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056" y="1702713"/>
            <a:ext cx="962382" cy="14170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4843" y="1895118"/>
            <a:ext cx="2747367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Источник телеметрии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314843" y="2311360"/>
            <a:ext cx="6641902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исходящий поток данных, формирование бинарных кадров с параметрами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056" y="3119795"/>
            <a:ext cx="962382" cy="11549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4843" y="3312200"/>
            <a:ext cx="258329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Серверная часть (Go)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4843" y="3728442"/>
            <a:ext cx="664190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Приём по TCP, парсинг, хранение в памяти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0056" y="4274701"/>
            <a:ext cx="962382" cy="11549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14843" y="4467106"/>
            <a:ext cx="2406134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WebSocket-канал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314843" y="4883348"/>
            <a:ext cx="664190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Двунаправленная передача данных клиентам в реальном времени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0056" y="5429607"/>
            <a:ext cx="962382" cy="11549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14843" y="5622012"/>
            <a:ext cx="2406134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Клиентская часть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7314843" y="6038255"/>
            <a:ext cx="664190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Визуализация параметров, графики, индикаторы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160056" y="6800969"/>
            <a:ext cx="7796689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Система построена на принципах модульности и использует асинхронное взаимодействие компонентов для обеспечения высокой производительности.</a:t>
            </a:r>
            <a:endParaRPr lang="en-US" sz="15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62F1F4-129A-4B48-AC18-1BF16FBE0F81}"/>
              </a:ext>
            </a:extLst>
          </p:cNvPr>
          <p:cNvSpPr/>
          <p:nvPr/>
        </p:nvSpPr>
        <p:spPr>
          <a:xfrm>
            <a:off x="12669520" y="7569200"/>
            <a:ext cx="1849120" cy="57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057" y="505301"/>
            <a:ext cx="6027777" cy="57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Серверная часть системы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3057" y="1538883"/>
            <a:ext cx="263306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Технологический стек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3057" y="2009656"/>
            <a:ext cx="7827288" cy="881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Серверная компонента реализована на языке Go, обеспечивающем высокую производительность и эффективное управление конкурентными операциями через горутины и каналы.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3057" y="3074908"/>
            <a:ext cx="2333506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Ключевые функции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3057" y="3545681"/>
            <a:ext cx="7827288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Приём бинарных телеметрических кадров по TCP-протоколу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3057" y="3903821"/>
            <a:ext cx="7827288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Декодирование и парсинг данных в типизированные структуры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3057" y="4261961"/>
            <a:ext cx="7827288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Потокобезопасное хранение в оперативной памяти с использованием мьютексов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3057" y="4913948"/>
            <a:ext cx="7827288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Обслуживание множественных клиентских подключений по WebSocket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3057" y="5272088"/>
            <a:ext cx="7827288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Логирование событий и обработка ошибок передачи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116" y="1561862"/>
            <a:ext cx="5068729" cy="506872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3057" y="7043976"/>
            <a:ext cx="13344287" cy="1074420"/>
          </a:xfrm>
          <a:prstGeom prst="roundRect">
            <a:avLst>
              <a:gd name="adj" fmla="val 7183"/>
            </a:avLst>
          </a:prstGeom>
          <a:solidFill>
            <a:srgbClr val="DDDAD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" y="7326035"/>
            <a:ext cx="229672" cy="1837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40155" y="7273528"/>
            <a:ext cx="12563475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Преимущества Go:</a:t>
            </a: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встроенная поддержка конкурентности, статическая типизация, быстрая компиляция, эффективное использование памяти.</a:t>
            </a:r>
            <a:endParaRPr lang="en-US" sz="1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C29AA33-C9C9-4AE1-A554-A3AFD6DCEE6A}"/>
              </a:ext>
            </a:extLst>
          </p:cNvPr>
          <p:cNvSpPr/>
          <p:nvPr/>
        </p:nvSpPr>
        <p:spPr>
          <a:xfrm>
            <a:off x="13987342" y="7569200"/>
            <a:ext cx="531297" cy="57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25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2703" y="2931081"/>
            <a:ext cx="8766215" cy="600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Структура телеметрического кадра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72703" y="3820001"/>
            <a:ext cx="6546413" cy="1429941"/>
          </a:xfrm>
          <a:prstGeom prst="roundRect">
            <a:avLst>
              <a:gd name="adj" fmla="val 5645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72490" y="4019788"/>
            <a:ext cx="240256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Временная метка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2490" y="4435316"/>
            <a:ext cx="6146840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Unix timestamp для синхронизации событий и построения временных рядов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11283" y="3820001"/>
            <a:ext cx="6546413" cy="1429941"/>
          </a:xfrm>
          <a:prstGeom prst="roundRect">
            <a:avLst>
              <a:gd name="adj" fmla="val 5645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11070" y="4019788"/>
            <a:ext cx="3308390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Динамические параметры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611070" y="4435316"/>
            <a:ext cx="6146840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Скорость, ускорение, пространственная ориентация (Roll, Pitch, Yaw)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2703" y="5442109"/>
            <a:ext cx="6546413" cy="1429941"/>
          </a:xfrm>
          <a:prstGeom prst="roundRect">
            <a:avLst>
              <a:gd name="adj" fmla="val 5645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72490" y="5641896"/>
            <a:ext cx="298049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Температурные данные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72490" y="6057424"/>
            <a:ext cx="6146840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Значения сенсоров для контроля теплового режима систем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11283" y="5442109"/>
            <a:ext cx="6546413" cy="1429941"/>
          </a:xfrm>
          <a:prstGeom prst="roundRect">
            <a:avLst>
              <a:gd name="adj" fmla="val 5645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11070" y="5641896"/>
            <a:ext cx="3001447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Навигационные данные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611070" y="6057424"/>
            <a:ext cx="6146840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Географические координаты (широта, долгота), высота над уровнем моря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72703" y="7088267"/>
            <a:ext cx="13284994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Каждый кадр представляет собой бинарную структуру фиксированной длины. Использование бинарного формата минимизирует объём передаваемых данных и повышает скорость обработки по сравнению с текстовыми протоколами.</a:t>
            </a:r>
            <a:endParaRPr lang="en-US" sz="15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8C1E154-7250-467D-B925-6F4C05B3C797}"/>
              </a:ext>
            </a:extLst>
          </p:cNvPr>
          <p:cNvSpPr/>
          <p:nvPr/>
        </p:nvSpPr>
        <p:spPr>
          <a:xfrm>
            <a:off x="12669520" y="7569200"/>
            <a:ext cx="1849120" cy="57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8697"/>
            <a:ext cx="98767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Клиентская часть и визуализация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47918"/>
            <a:ext cx="3868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Графическое отображение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38337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Интерактивные графики изменения параметров во времени с возможностью масштабирования и навигации по истории данных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35893" y="3347918"/>
            <a:ext cx="33332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Числовые индикаторы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35893" y="3838337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Актуальные значения критических параметров с цветовой индикацией для быстрой оценки состояния системы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77995" y="3347918"/>
            <a:ext cx="2951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WebSocket-протокол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7995" y="3838337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Непрерывный двунаправленный канал связи обеспечивает минимальные задержки при передаче обновлений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54509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Клиентское приложение позволяет операторам в реальном времени отслеживать изменение всех параметров телеметрии, выявлять аномалии и анализировать динамику работы системы.</a:t>
            </a:r>
            <a:endParaRPr lang="en-US" sz="17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5D1CE95-4304-4EC7-8F8E-F90966C50918}"/>
              </a:ext>
            </a:extLst>
          </p:cNvPr>
          <p:cNvSpPr/>
          <p:nvPr/>
        </p:nvSpPr>
        <p:spPr>
          <a:xfrm>
            <a:off x="12669520" y="7569200"/>
            <a:ext cx="1849120" cy="57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608528"/>
            <a:ext cx="9187815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Практическая ценность проекта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073" y="1740456"/>
            <a:ext cx="552212" cy="552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3073" y="2568773"/>
            <a:ext cx="438078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Аэрокосмические приложения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73073" y="3046333"/>
            <a:ext cx="6404015" cy="1413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Архитектура системы применима для мониторинга беспилотных летательных аппаратов, спутников и экспериментальных ракет, где критична надёжность передачи данных.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3193" y="1740456"/>
            <a:ext cx="552212" cy="5522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3193" y="2568773"/>
            <a:ext cx="4103132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Образовательная платформа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453193" y="3046333"/>
            <a:ext cx="6404134" cy="1413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Проект может использоваться в учебном процессе для демонстрации принципов сетевого программирования, обработки данных и построения распределённых систем.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073" y="4901565"/>
            <a:ext cx="552212" cy="5522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3073" y="5729883"/>
            <a:ext cx="378380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Исследовательские задачи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73073" y="6207443"/>
            <a:ext cx="6404015" cy="1413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Система подходит для сбора и анализа экспериментальных данных в лабораторных установках и полевых испытаниях с требованиями к обработке в реальном времени.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3193" y="4901565"/>
            <a:ext cx="552212" cy="5522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3193" y="5729883"/>
            <a:ext cx="344828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Модульная архитектура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453193" y="6207443"/>
            <a:ext cx="6404134" cy="106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Реализованные компоненты могут быть расширены: добавление базы данных для архивирования, модулей аналитики и систем оповещения об аномалиях.</a:t>
            </a:r>
            <a:endParaRPr lang="en-US" sz="17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39EE0E7-B925-4370-8CD0-4DB6388F6073}"/>
              </a:ext>
            </a:extLst>
          </p:cNvPr>
          <p:cNvSpPr/>
          <p:nvPr/>
        </p:nvSpPr>
        <p:spPr>
          <a:xfrm>
            <a:off x="12669520" y="7569200"/>
            <a:ext cx="1849120" cy="57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2535" y="523994"/>
            <a:ext cx="3615452" cy="45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Результаты работы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992535" y="1409581"/>
            <a:ext cx="8131731" cy="1065252"/>
          </a:xfrm>
          <a:prstGeom prst="roundRect">
            <a:avLst>
              <a:gd name="adj" fmla="val 6867"/>
            </a:avLst>
          </a:prstGeom>
          <a:solidFill>
            <a:srgbClr val="FDFBF7"/>
          </a:solidFill>
          <a:ln/>
          <a:effectLst>
            <a:outerShdw dist="127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92535" y="1394341"/>
            <a:ext cx="8131731" cy="60960"/>
          </a:xfrm>
          <a:prstGeom prst="roundRect">
            <a:avLst>
              <a:gd name="adj" fmla="val 99639"/>
            </a:avLst>
          </a:prstGeom>
          <a:solidFill>
            <a:srgbClr val="E6DED2"/>
          </a:solidFill>
          <a:ln/>
        </p:spPr>
      </p:sp>
      <p:sp>
        <p:nvSpPr>
          <p:cNvPr id="6" name="Shape 3"/>
          <p:cNvSpPr/>
          <p:nvPr/>
        </p:nvSpPr>
        <p:spPr>
          <a:xfrm>
            <a:off x="9841528" y="1192768"/>
            <a:ext cx="433745" cy="433745"/>
          </a:xfrm>
          <a:prstGeom prst="roundRect">
            <a:avLst>
              <a:gd name="adj" fmla="val 210815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971663" y="1301234"/>
            <a:ext cx="173474" cy="21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52317" y="1771055"/>
            <a:ext cx="2407087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Функциональная система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52317" y="2083594"/>
            <a:ext cx="781216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Реализована полнофункциональная клиент-серверная архитектура с генератором, сервером и клиентом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92535" y="2836188"/>
            <a:ext cx="8131731" cy="1065252"/>
          </a:xfrm>
          <a:prstGeom prst="roundRect">
            <a:avLst>
              <a:gd name="adj" fmla="val 6867"/>
            </a:avLst>
          </a:prstGeom>
          <a:solidFill>
            <a:srgbClr val="FDFBF7"/>
          </a:solidFill>
          <a:ln/>
          <a:effectLst>
            <a:outerShdw dist="127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92535" y="2820948"/>
            <a:ext cx="8131731" cy="60960"/>
          </a:xfrm>
          <a:prstGeom prst="roundRect">
            <a:avLst>
              <a:gd name="adj" fmla="val 99639"/>
            </a:avLst>
          </a:prstGeom>
          <a:solidFill>
            <a:srgbClr val="E6DED2"/>
          </a:solidFill>
          <a:ln/>
        </p:spPr>
      </p:sp>
      <p:sp>
        <p:nvSpPr>
          <p:cNvPr id="12" name="Shape 9"/>
          <p:cNvSpPr/>
          <p:nvPr/>
        </p:nvSpPr>
        <p:spPr>
          <a:xfrm>
            <a:off x="9841528" y="2619375"/>
            <a:ext cx="433745" cy="433745"/>
          </a:xfrm>
          <a:prstGeom prst="roundRect">
            <a:avLst>
              <a:gd name="adj" fmla="val 210815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971663" y="2727841"/>
            <a:ext cx="173474" cy="21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52317" y="3197662"/>
            <a:ext cx="1997154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Стабильная передача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52317" y="3510201"/>
            <a:ext cx="781216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Обеспечена надёжная доставка телеметрических кадров по сети без потерь данных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92535" y="4262795"/>
            <a:ext cx="8131731" cy="1065252"/>
          </a:xfrm>
          <a:prstGeom prst="roundRect">
            <a:avLst>
              <a:gd name="adj" fmla="val 6867"/>
            </a:avLst>
          </a:prstGeom>
          <a:solidFill>
            <a:srgbClr val="FDFBF7"/>
          </a:solidFill>
          <a:ln/>
          <a:effectLst>
            <a:outerShdw dist="127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92535" y="4247555"/>
            <a:ext cx="8131731" cy="60960"/>
          </a:xfrm>
          <a:prstGeom prst="roundRect">
            <a:avLst>
              <a:gd name="adj" fmla="val 99639"/>
            </a:avLst>
          </a:prstGeom>
          <a:solidFill>
            <a:srgbClr val="E6DED2"/>
          </a:solidFill>
          <a:ln/>
        </p:spPr>
      </p:sp>
      <p:sp>
        <p:nvSpPr>
          <p:cNvPr id="18" name="Shape 15"/>
          <p:cNvSpPr/>
          <p:nvPr/>
        </p:nvSpPr>
        <p:spPr>
          <a:xfrm>
            <a:off x="9841528" y="4045982"/>
            <a:ext cx="433745" cy="433745"/>
          </a:xfrm>
          <a:prstGeom prst="roundRect">
            <a:avLst>
              <a:gd name="adj" fmla="val 210815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9971663" y="4154448"/>
            <a:ext cx="173474" cy="21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152317" y="4624268"/>
            <a:ext cx="2100382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Корректная обработка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52317" y="4936808"/>
            <a:ext cx="781216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Подтверждена правильность парсинга бинарных структур и визуализации параметров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92535" y="5689402"/>
            <a:ext cx="8131731" cy="1065252"/>
          </a:xfrm>
          <a:prstGeom prst="roundRect">
            <a:avLst>
              <a:gd name="adj" fmla="val 6867"/>
            </a:avLst>
          </a:prstGeom>
          <a:solidFill>
            <a:srgbClr val="FDFBF7"/>
          </a:solidFill>
          <a:ln/>
          <a:effectLst>
            <a:outerShdw dist="127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92535" y="5674162"/>
            <a:ext cx="8131731" cy="60960"/>
          </a:xfrm>
          <a:prstGeom prst="roundRect">
            <a:avLst>
              <a:gd name="adj" fmla="val 99639"/>
            </a:avLst>
          </a:prstGeom>
          <a:solidFill>
            <a:srgbClr val="E6DED2"/>
          </a:solidFill>
          <a:ln/>
        </p:spPr>
      </p:sp>
      <p:sp>
        <p:nvSpPr>
          <p:cNvPr id="24" name="Shape 21"/>
          <p:cNvSpPr/>
          <p:nvPr/>
        </p:nvSpPr>
        <p:spPr>
          <a:xfrm>
            <a:off x="9841528" y="5472589"/>
            <a:ext cx="433745" cy="433745"/>
          </a:xfrm>
          <a:prstGeom prst="roundRect">
            <a:avLst>
              <a:gd name="adj" fmla="val 210815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971663" y="5581055"/>
            <a:ext cx="173474" cy="21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152317" y="6050875"/>
            <a:ext cx="1925836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Потенциал развития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152317" y="6363414"/>
            <a:ext cx="781216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Заложена основа для интеграции дополнительных модулей и масштабирования системы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09348" y="7079933"/>
            <a:ext cx="7914918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Проект демонстрирует применение современных технологий и подходов к построению телеметрических систем, применимых в инженерной практике.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992535" y="6917293"/>
            <a:ext cx="15240" cy="788194"/>
          </a:xfrm>
          <a:prstGeom prst="rect">
            <a:avLst/>
          </a:prstGeom>
          <a:solidFill>
            <a:srgbClr val="9C9283"/>
          </a:solidFill>
          <a:ln/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669F2A2-B676-4DA7-93FB-FFC6D4E41B11}"/>
              </a:ext>
            </a:extLst>
          </p:cNvPr>
          <p:cNvSpPr/>
          <p:nvPr/>
        </p:nvSpPr>
        <p:spPr>
          <a:xfrm>
            <a:off x="12669520" y="7569200"/>
            <a:ext cx="1849120" cy="57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339" y="337304"/>
            <a:ext cx="3067169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Заключение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9339" y="965954"/>
            <a:ext cx="4508778" cy="1408867"/>
          </a:xfrm>
          <a:prstGeom prst="roundRect">
            <a:avLst>
              <a:gd name="adj" fmla="val 3657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59594" y="1096208"/>
            <a:ext cx="368022" cy="368022"/>
          </a:xfrm>
          <a:prstGeom prst="roundRect">
            <a:avLst>
              <a:gd name="adj" fmla="val 24843856"/>
            </a:avLst>
          </a:prstGeom>
          <a:solidFill>
            <a:srgbClr val="E6DED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797" y="1197292"/>
            <a:ext cx="165616" cy="165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9594" y="1586865"/>
            <a:ext cx="153352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Цель достигнута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9594" y="1852136"/>
            <a:ext cx="4248269" cy="3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Разработана рабочая клиент-серверная система для обработки телеметрии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60752" y="965954"/>
            <a:ext cx="4508778" cy="1408867"/>
          </a:xfrm>
          <a:prstGeom prst="roundRect">
            <a:avLst>
              <a:gd name="adj" fmla="val 3657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91006" y="1096208"/>
            <a:ext cx="368022" cy="368022"/>
          </a:xfrm>
          <a:prstGeom prst="roundRect">
            <a:avLst>
              <a:gd name="adj" fmla="val 24843856"/>
            </a:avLst>
          </a:prstGeom>
          <a:solidFill>
            <a:srgbClr val="E6DED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2209" y="1197292"/>
            <a:ext cx="165616" cy="165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1006" y="1586865"/>
            <a:ext cx="153352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Задачи выполнены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191006" y="1852136"/>
            <a:ext cx="4248269" cy="3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Реализованы все функциональные компоненты: приём, обработка, хранение, передача и визуализация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9692164" y="965954"/>
            <a:ext cx="4508778" cy="1408867"/>
          </a:xfrm>
          <a:prstGeom prst="roundRect">
            <a:avLst>
              <a:gd name="adj" fmla="val 3657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822418" y="1096208"/>
            <a:ext cx="368022" cy="368022"/>
          </a:xfrm>
          <a:prstGeom prst="roundRect">
            <a:avLst>
              <a:gd name="adj" fmla="val 24843856"/>
            </a:avLst>
          </a:prstGeom>
          <a:solidFill>
            <a:srgbClr val="E6DED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23621" y="1197292"/>
            <a:ext cx="165616" cy="165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2418" y="1586865"/>
            <a:ext cx="153352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Устойчивая работа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822418" y="1852136"/>
            <a:ext cx="4248269" cy="3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Система демонстрирует стабильность при непрерывной передаче данных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29339" y="2574085"/>
            <a:ext cx="13771721" cy="22860"/>
          </a:xfrm>
          <a:prstGeom prst="rect">
            <a:avLst/>
          </a:prstGeom>
          <a:solidFill>
            <a:srgbClr val="4C4C4C">
              <a:alpha val="5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429339" y="2857500"/>
            <a:ext cx="3387328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Практическая и образовательная ценность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9339" y="3171825"/>
            <a:ext cx="6736199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Созданный прототип имеет применение в аэрокосмической отрасли, исследовательских проектах и может использоваться в качестве учебного материала для изучения распределённых систем и сетевых протоколов.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2482" y="2872859"/>
            <a:ext cx="6736199" cy="6736199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5A9DA89-AA15-4242-9CA6-217A761F410A}"/>
              </a:ext>
            </a:extLst>
          </p:cNvPr>
          <p:cNvSpPr/>
          <p:nvPr/>
        </p:nvSpPr>
        <p:spPr>
          <a:xfrm>
            <a:off x="14200942" y="7569200"/>
            <a:ext cx="317698" cy="57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692</Words>
  <Application>Microsoft Office PowerPoint</Application>
  <PresentationFormat>Произвольный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Noto Serif</vt:lpstr>
      <vt:lpstr>Noto Serif Light</vt:lpstr>
      <vt:lpstr>Noto Serif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Артем Боков</cp:lastModifiedBy>
  <cp:revision>3</cp:revision>
  <dcterms:created xsi:type="dcterms:W3CDTF">2025-12-28T21:36:45Z</dcterms:created>
  <dcterms:modified xsi:type="dcterms:W3CDTF">2026-04-21T22:57:46Z</dcterms:modified>
</cp:coreProperties>
</file>